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Дальше: как сейчас → что меняется → разбор по экранам → правила.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Говорим без упрёков: проблема не в людях, а в том, что данные нигде не сходятся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пароль один на всех, доступ «по знакомству» → Теперь: личный логин на colizeum.ru и личный пароль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никто не спрашивал и ничего не подписывал → Теперь: три галочки при первом входе, с датой и версией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настройки «спроси у того, кто делал» → Теперь: всё своё — по клику на аватарку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утро начиналось с обхода пяти вкладок → Теперь: одна страница: цифры, вопросы, задачи, сроки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Google-документ, где напротив пунктов дописывали «ГОТОВО» → Теперь: тот же порядок, но сроки и просрочка считаются сами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«посмотри в документе, я там дописал» → Теперь: тот же экран, статус и комментарий — в строке пункта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стикеры, напоминания в телефоне и «я помню» → Теперь: доска со сроками, приоритетом и файлами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папка на диске и «спроси у Марины, она вела» → Теперь: карточки с реквизитами и счётчиками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история жила в переписке и в голове → Теперь: лента событий по дням с фильтрами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стадия сделки = ощущение в голове менеджера → Теперь: пять стадий, одинаковых для всех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девять шагов, из которых половина про бумаги → Теперь: Лид → Договор → Оплата → Размещение → Закрытие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счета в почте, медиаплан в чате, сроки в блокноте → Теперь: всё по порядку работы на одной странице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письмо собиралось руками, реквизиты копировались из старого → Теперь: форма собирает письмо из данных карточки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«Договор_финал_2_правка.docx» на рабочем столе → Теперь: восемь подразделов и версии одного документа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таблица платежей, которую вёл кто-то один → Теперь: календарь по месяцам и сверка с договором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общая Google-таблица, в которой легко затереть чужую строку → Теперь: тот же вид, но с правами и привязкой к сделке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ЕРИД искали в переписке с площадкой → Теперь: запись по каждому креативу с файлами и датами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коды и условия жили в переписке с клиентом → Теперь: карточка по клиенту: сроки, условия, взаиморасчёт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заявки падали в таблицу, и кто-то должен был их заметить → Теперь: общий поток со статусом и ответственным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расшифровка встречи оставалась в файле у того, кто записал → Теперь: запись с показателями и строкой в отчётную таблицу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цены и требования спрашивали у коллег в чате → Теперь: статьи по категориям и файлы-шаблоны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рабочие договорённости терялись в личных мессенджерах → Теперь: каналы и личка рядом с клиентами и сделками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«посчитай, вспомни, собери» — руками → Теперь: спросить словами и поручить мелкую работу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«я в отпуске, пиши Кате» — и материалы искали заново → Теперь: календарь отсутствий и передача клиентов с саммари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кто кому подчиняется — знали на словах → Теперь: структура строится из должностей и закреплений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статус собирали вручную к каждому совещанию → Теперь: сводка по людям, воронка и очередь решений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бюджет жил в отдельной таблице у руководителя → Теперь: одна страница — три вопроса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Раньше: с телефона было не открыть → Теперь: те же разделы, нижняя панель под большой палец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65960"/>
            <a:ext cx="566928" cy="566928"/>
          </a:xfrm>
          <a:prstGeom prst="rect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72768" y="19659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COLIZEUM AGENCY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-12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место вместо пяти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Клиенты, сделки, документы, деньги, размещения и задачи друг другу — в одном сервисе, с единым списком дел и видимой ответственностью.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для отдела · COLIZEUM Agency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С ЧЕГО ВСЁ НАЧАЛОСЬ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лежит в пяти местах сразу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4114800" cy="438912"/>
          </a:xfrm>
          <a:prstGeom prst="roundRect">
            <a:avLst>
              <a:gd name="adj" fmla="val 50000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178308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Aspro — процессы и согласования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2350008"/>
            <a:ext cx="4114800" cy="438912"/>
          </a:xfrm>
          <a:prstGeom prst="roundRect">
            <a:avLst>
              <a:gd name="adj" fmla="val 50000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235000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Google-таблицы — размещения, учёт, задачник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22960" y="2916936"/>
            <a:ext cx="4114800" cy="438912"/>
          </a:xfrm>
          <a:prstGeom prst="roundRect">
            <a:avLst>
              <a:gd name="adj" fmla="val 50000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91693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 на рабочем столе — макеты, счета, договоры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483864"/>
            <a:ext cx="4114800" cy="438912"/>
          </a:xfrm>
          <a:prstGeom prst="roundRect">
            <a:avLst>
              <a:gd name="adj" fmla="val 50000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34838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 и мессенджеры — договорённости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4050792"/>
            <a:ext cx="4114800" cy="438912"/>
          </a:xfrm>
          <a:prstGeom prst="roundRect">
            <a:avLst>
              <a:gd name="adj" fmla="val 50000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405079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Память — что кому обещали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77840" y="1783080"/>
            <a:ext cx="5760720" cy="3401568"/>
          </a:xfrm>
          <a:prstGeom prst="roundRect">
            <a:avLst>
              <a:gd name="adj" fmla="val 2151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19659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пять вопросов, на которые уходит полдня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852160" y="2487168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последняя версия договора — у меня в «Загрузках» или у юриста в почте?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Предоплата пришла? А счёт вообще выставляли?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я должен был сделать к четвергу — где тот список?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ведёт Алабугу, пока Катя в отпуске, и где её материалы?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спрашивает статус — собираю ответ сорок минут.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из этих вопросов не про лень. Они возникают потому, что данные лежат в разных местах и нигде не сходятся вместе.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ЧЕСТНО О ГРАНИЦАХ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меняется — и что остаётся как было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Меняется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60704" y="24688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Клиент, его сделки, документы, оплаты и история — на одной странице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Стадия сделки видна всем, кто имеет к ней отношение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от руководителя проектов приходят в сервис, а не в переписку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загружается один раз и виден там, где нужен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Срок, который прошёл, подсвечивается сам — искать глазами не нужно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55664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Остаётся как было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55664" y="246888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Aspro остаётся основной системой компании — процессы менять не нужно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карточке клиента, сделки и маркировки есть кнопка «Aspro ↗» — переход в тот же процесс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Второго списка задач не заводим: задача из рабочего листа — это та же задача на доске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Личная таблица учёта остаётся вашей, ссылка на неё живёт в профиле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Никто не просит вести учёт дважды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не заменяет Aspro и не требует вести учёт дважды. Он собирает в одном месте то, что сейчас разбросано.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1 · КАК УСТРОЕНО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вещи, на которых держится сервис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120640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975104"/>
            <a:ext cx="4681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клиента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2416" y="2304288"/>
            <a:ext cx="4681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Реквизиты, контакты, сделки, документы, оплаты и лента событий. Не нужно обходить пять мест, чтобы понять, где мы с клиентом.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120640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975104"/>
            <a:ext cx="4681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Сделка в пяти стадиях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37376" y="2304288"/>
            <a:ext cx="4681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 → Договор → Оплата → Размещение → Закрытие. Стадия отвечает на вопрос «где сделка», а не «какую бумагу готовим».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5120640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4078224"/>
            <a:ext cx="4681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Задачи, вид «По клиентам»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42416" y="4407408"/>
            <a:ext cx="4681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проектов пишет обстановку по клиенту и ставит пункты, менеджер отвечает статусом и комментарием. Вместо документа с приписками капсом.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120640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4078224"/>
            <a:ext cx="4681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файлы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37376" y="4407408"/>
            <a:ext cx="46817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хранилище на весь сервис: файл, загруженный в сделку, виден в «Документах» клиента. Рабочего стола в этой схеме нет.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по экранам: что где лежит и почему сделано именно так.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2 · ПО ЭКРАНАМ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— в том порядке, в каком идёт рабочий день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46704" cy="1691640"/>
          </a:xfrm>
          <a:prstGeom prst="roundRect">
            <a:avLst>
              <a:gd name="adj" fmla="val 3243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206654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Утром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2416" y="2395728"/>
            <a:ext cx="29077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«Сегодня»: цифры, вопросы, задачи, сроки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07408" y="1920240"/>
            <a:ext cx="3346704" cy="1691640"/>
          </a:xfrm>
          <a:prstGeom prst="roundRect">
            <a:avLst>
              <a:gd name="adj" fmla="val 3243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6864" y="206654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дел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26864" y="2395728"/>
            <a:ext cx="29077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«Задачи»: доска и вид «По клиентам»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346704" cy="1691640"/>
          </a:xfrm>
          <a:prstGeom prst="roundRect">
            <a:avLst>
              <a:gd name="adj" fmla="val 3243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11312" y="206654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клиенту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11312" y="2395728"/>
            <a:ext cx="29077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→ сделка → документы → деньги → выход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3840480"/>
            <a:ext cx="3346704" cy="1691640"/>
          </a:xfrm>
          <a:prstGeom prst="roundRect">
            <a:avLst>
              <a:gd name="adj" fmla="val 3243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39867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4315968"/>
            <a:ext cx="29077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дневник, база знаний, чат, напарник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07408" y="3840480"/>
            <a:ext cx="3346704" cy="1691640"/>
          </a:xfrm>
          <a:prstGeom prst="roundRect">
            <a:avLst>
              <a:gd name="adj" fmla="val 3243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39867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уходите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26864" y="4315968"/>
            <a:ext cx="29077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 и передача дел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91856" y="3840480"/>
            <a:ext cx="3346704" cy="1691640"/>
          </a:xfrm>
          <a:prstGeom prst="roundRect">
            <a:avLst>
              <a:gd name="adj" fmla="val 3243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39867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Руководителю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11312" y="4315968"/>
            <a:ext cx="290779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отделу и деньги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экран — слайд: скриншот, что на нём делать и чем это отличается от того, как было.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и первое знакомство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пароль один на всех, доступ «по знакомству»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личный логин на colizeum.ru и личный пароль</a:t>
            </a:r>
            <a:endParaRPr lang="en-US" sz="1050" dirty="0"/>
          </a:p>
        </p:txBody>
      </p:sp>
      <p:pic>
        <p:nvPicPr>
          <p:cNvPr id="7" name="Image 0" descr="/home/user/Colizeum__CRM/docs/screens/login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открывается в браузере — ставить ничего не нужно.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Логин — ваша рабочая почта, пароль выдаёт администратор лично.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Пароль от 12 символов. Сразу смените выданный на свой.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неудачных попыток — вход на время закрывается. Забыли пароль — напишите администратору, не подбирайте.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Меню у разных людей разное: набор разделов зависит от роли и направления. У коллеги есть пункт, которого нет у вас — это не ошибка.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Пароль — это ваша подпись под действиями в сервисе: в журнале останется ваше имя. Никому его не передавайте, даже коллеге «на минутку».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Согласие с документами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никто не спрашивал и ничего не подписывал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галочки при первом входе, с датой и версией</a:t>
            </a:r>
            <a:endParaRPr lang="en-US" sz="1050" dirty="0"/>
          </a:p>
        </p:txBody>
      </p:sp>
      <p:pic>
        <p:nvPicPr>
          <p:cNvPr id="7" name="Image 0" descr="/home/user/Colizeum__CRM/docs/screens/consent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первом входе сервис показывает три документа: соглашение, политику обработки персональных данных и согласие работника.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Галочки пустые, кнопка не нажимается, пока не отмечены все три — так требует закон.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Дата, время и версия каждого документа сохраняются.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Поправили документ — версия сменилась, сервис попросит принять заново.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формальность ради формальности: в сервисе лежат персональные данные контактных лиц клиентов, и согласие — основание ими пользоваться.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профиль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«спроси у того, кто делал»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своё — по клику на аватарку</a:t>
            </a:r>
            <a:endParaRPr lang="en-US" sz="1050" dirty="0"/>
          </a:p>
        </p:txBody>
      </p:sp>
      <p:pic>
        <p:nvPicPr>
          <p:cNvPr id="7" name="Image 0" descr="/home/user/Colizeum__CRM/docs/screens/profile-menu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аватарке внизу меню: фото, смена пароля, вход по коду, выход.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именем — ваша должность, а не роль доступа: «Руководитель проектов», «Проектный менеджер».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«Вход по коду» — второй фактор: QR в приложение-аутентификатор и восемь запасных кодов.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Там же мелкой строкой — правовые документы, их можно перечитать в любой момент.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фактор обязателен тем, у кого есть доступ к управлению и журналу. Остальным — по желанию, но включить стоит: пароль могут подсмотреть, код из телефона — нет.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«Сегодня» — с чего начинается день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утро начиналось с обхода пяти вкладок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страница: цифры, вопросы, задачи, сроки</a:t>
            </a:r>
            <a:endParaRPr lang="en-US" sz="1050" dirty="0"/>
          </a:p>
        </p:txBody>
      </p:sp>
      <p:pic>
        <p:nvPicPr>
          <p:cNvPr id="7" name="Image 0" descr="/home/user/Colizeum__CRM/docs/screens/dashboard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Портфель под управлением — сумма по активным сделкам. Крупно с НДС, чистая подписью.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«Решения, которые ждут вас» — заданные руководителю вопросы с ответами.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«Спросить руководителя» — форма: что решить, тип, клиент, подробности, можно приложить файл. Вопрос не теряется в переписке.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Поручения руководителя — задачи, которые поставил не вы, а вам.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Ближайшие задачи, блокеры, кольца по стадиям сделок.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дня — одна строка по проекту: что сделано, что дальше, что мешает.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дня не ради отчётности: из этих строк собирается недельная сводка, и в пятницу не придётся вспоминать, что было в понедельник.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Задачи, вид «По клиентам» — глазами руководителя проектов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Google-документ, где напротив пунктов дописывали «ГОТОВО»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порядок, но сроки и просрочка считаются сами</a:t>
            </a:r>
            <a:endParaRPr lang="en-US" sz="1050" dirty="0"/>
          </a:p>
        </p:txBody>
      </p:sp>
      <p:pic>
        <p:nvPicPr>
          <p:cNvPr id="7" name="Image 0" descr="/home/user/Colizeum__CRM/docs/screens/worksheet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разделе «Задачи» два вида: «Доска» — на чьей стороне мяч, «По клиентам» — недельная сверка. Список задач один и тот же.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считается, а не пишется: «Красная зона» (просрочка и срочное в ожидании) и «Закрыто за неделю».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каждому клиенту — абзац обстановки: что согласовано, чего ждём, на что смотреть.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клиента три части — ровно вопросы сверки: «Сделано за неделю», «Делаем сейчас», «Дальше по сроку».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показывается, даже если задач нет: пустая строка — это вопрос «а что у нас с ним?».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Переключатель недель вверху справа: прошлая, текущая, следующая.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системы задач не появилось. Пункт здесь — это обычная задача: она же на доске и в «Сегодня», просрочка считается один раз.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Неделя принадлежит руководителю проектов. Менеджер открывает неделю своего руководителя, а не заводит свою — иначе получились бы два списка дел по одним клиентам.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Задачи, вид «По клиентам» — глазами проектного менеджера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«посмотри в документе, я там дописал»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экран, статус и комментарий — в строке пункта</a:t>
            </a:r>
            <a:endParaRPr lang="en-US" sz="1050" dirty="0"/>
          </a:p>
        </p:txBody>
      </p:sp>
      <p:pic>
        <p:nvPicPr>
          <p:cNvPr id="7" name="Image 0" descr="/home/user/Colizeum__CRM/docs/screens/worksheet-manager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 открывает тот же экран и видит то же самое — расхождений между двумя копиями документа больше нет.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пункта меняется кнопкой в строке: открыта, в работе, ждём, готово.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«Обсудить» — лента комментариев с автором и временем вместо приписок в тексте.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 может и сам завести пункт по клиенту — кнопка «+ Задача» в блоке клиента.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на процесс в Aspro вставляется в пункт, если работа идёт там.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 отдела видит лист любой пары, но только читая: ставить задачи поверх руководителя проектов — значит размывать ответственность.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стикеры, напоминания в телефоне и «я помню»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со сроками, приоритетом и файлами</a:t>
            </a:r>
            <a:endParaRPr lang="en-US" sz="1050" dirty="0"/>
          </a:p>
        </p:txBody>
      </p:sp>
      <p:pic>
        <p:nvPicPr>
          <p:cNvPr id="7" name="Image 0" descr="/home/user/Colizeum__CRM/docs/screens/task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по статусам, карточки перетаскиваются мышью. Перетащенная встаёт первой.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Цветная полоса слева — приоритет.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выбирается первым полем, и его название само уходит в начало заголовка: «МТС — согласовать макет».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Значок 💬 — есть примечание, текст раскрывается по клику.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Бейдж «🎯 Поручение» — задача от руководителя.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задаче можно приложить файл.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папка на диске и «спроси у Марины, она вела»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с реквизитами и счётчиками</a:t>
            </a:r>
            <a:endParaRPr lang="en-US" sz="1050" dirty="0"/>
          </a:p>
        </p:txBody>
      </p:sp>
      <p:pic>
        <p:nvPicPr>
          <p:cNvPr id="7" name="Image 0" descr="/home/user/Colizeum__CRM/docs/screens/advertiser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лицевой стороне только суть: название, юрлицо, тип, сколько сделок и документов.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видите своих клиентов и клиентов своей пары «руководитель — менеджер». Чужие не показываются вовсе.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«+ Клиент» заводит нового, «Выгрузить в Excel» — книгу на девять листов для передачи дел.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агентств внутри — список конечных брендов.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Реквизиты заполняются один раз и дальше сами подставляются в запросы юристу и в письма. Перепечатывать ИНН больше негде, а значит, и ошибиться негде.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клиента и его история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жила в переписке и в голове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лента событий по дням с фильтрами</a:t>
            </a:r>
            <a:endParaRPr lang="en-US" sz="1050" dirty="0"/>
          </a:p>
        </p:txBody>
      </p:sp>
      <p:pic>
        <p:nvPicPr>
          <p:cNvPr id="7" name="Image 0" descr="/home/user/Colizeum__CRM/docs/screens/advertiser-card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Реквизиты, контакты, креативы, файл карточки контрагента.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Хронология: сделки, встречи из дневника, статусы дня, задачи, документы, оплаты, размещения, маркировка — восемь типов событий.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Планы вынесены в свёрнутый блок «Впереди», чтобы не закрывали историю.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«Пересказать историю» — ИИ сжимает ленту в несколько абзацев.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«Aspro ↗» ведёт в тот же процесс в Aspro.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Лента строится из дат, которые реально записаны: создание, дата договора, дата оплаты, дата загрузки файла. Чего не записали — того в истории не будет.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Сделки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стадия сделки = ощущение в голове менеджера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стадий, одинаковых для всех</a:t>
            </a:r>
            <a:endParaRPr lang="en-US" sz="1050" dirty="0"/>
          </a:p>
        </p:txBody>
      </p:sp>
      <p:pic>
        <p:nvPicPr>
          <p:cNvPr id="7" name="Image 0" descr="/home/user/Colizeum__CRM/docs/screens/deal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со стадиями, суммами и сроками. Значок ⛔ — поднят флажок блокера.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вводится чистой, как в медиаплане; под полем сразу видно «с НДС 22 % — 122 000 ₽».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«+ Сделка»: клиент, название, стадия, срочность, тип, сумма.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сделки — агентство или прямой клиент.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Стадий было девять, стало пять: половина прежних описывала не «где сделка», а какую бумагу готовят. Старое название дописано в примечание сделки — ничего не потерялось.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стадий — что значит каждая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шагов, из которых половина про бумаги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 → Договор → Оплата → Размещение → Закрытие</a:t>
            </a:r>
            <a:endParaRPr lang="en-US" sz="1050" dirty="0"/>
          </a:p>
        </p:txBody>
      </p:sp>
      <p:pic>
        <p:nvPicPr>
          <p:cNvPr id="7" name="Image 0" descr="/home/user/Colizeum__CRM/docs/screens/deal-sta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10515600" cy="23408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069080"/>
            <a:ext cx="5943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 — первый контакт, КП, условия.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 — договор, приложение, спецификация.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— счёт выставлен, предоплата пришла.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Размещение — материалы, маркировка, выход в клубах.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Закрытие — УПД, отчёт, закрытие.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Стадии, которые к этой сделке не относятся, отмечаются и показываются зачёркнуто.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040880" y="4069080"/>
            <a:ext cx="4297680" cy="2103120"/>
          </a:xfrm>
          <a:prstGeom prst="roundRect">
            <a:avLst>
              <a:gd name="adj" fmla="val 260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42048" y="4160520"/>
            <a:ext cx="3895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242048" y="4370832"/>
            <a:ext cx="38953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«Оплата» стоит отдельным шагом не для красоты: на неё опирается правило «размещение стартует только после предоплаты». При переходе вперёд сервис предупредит, если предоплаты ещё нет.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сделки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счета в почте, медиаплан в чате, сроки в блокноте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по порядку работы на одной странице</a:t>
            </a:r>
            <a:endParaRPr lang="en-US" sz="1050" dirty="0"/>
          </a:p>
        </p:txBody>
      </p:sp>
      <p:pic>
        <p:nvPicPr>
          <p:cNvPr id="7" name="Image 0" descr="/home/user/Colizeum__CRM/docs/screens/deal-card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Стадия меняется здесь же. Если что-то не сходится, сервис предупредит: «Знаю, принимаю» или «Уточню к дате» (заведёт задачу, стадия останется).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Блокер — флажок с комментарием. В сводках руководителя блокером считается только поднятый флажок.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— что делаем дальше и до какого числа.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Документы, медиапланы, счета, платежи, закрывающие, маркировка, промокоды — блоками ниже.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Сверка сумм: договор / разложено по месяцам / выставлено / оплачено. Расхождение подсвечивается.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Кнопки: «Запрос юристу», «Запрос на размещение», «+ Бронь» в календарь размещений.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Бронь из карточки сделки попадает в тот же общий календарь размещений: клиент, сделка и ответственный подставляются сами.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юристу и запрос на размещение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 собиралось руками, реквизиты копировались из старого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собирает письмо из данных карточки</a:t>
            </a:r>
            <a:endParaRPr lang="en-US" sz="1050" dirty="0"/>
          </a:p>
        </p:txBody>
      </p:sp>
      <p:pic>
        <p:nvPicPr>
          <p:cNvPr id="7" name="Image 0" descr="/home/user/Colizeum__CRM/docs/screens/legal-request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запрос юристу (договор и спецификация), потом — запрос на размещение макетов.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Галочками отмечаются рекламные форматы; у интернет-форматов стоит метка ЕРИД.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— календарём. Сумма вводится чистой, в письмо уходит тремя строками: с НДС, в том числе НДС, без НДС.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Выпадающие списки: география, кто делает макеты, кто получает маркировку, ЭДО или бумага, порядок оплаты.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текст правится руками и копируется в письмо. «Сохранить в историю» — запрос останется в карточке сделки и в ленте клиента.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 клиента не заполнены ИНН, адрес или подписант — сервис предупредит до отправки.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Формулировки — рабочий черновик по правилам из базы знаний. Если у юриста принят свой оборот, текст правится в одном месте, и дальше он такой у всех.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«Договор_финал_2_правка.docx» на рабочем столе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подразделов и версии одного документа</a:t>
            </a:r>
            <a:endParaRPr lang="en-US" sz="1050" dirty="0"/>
          </a:p>
        </p:txBody>
      </p:sp>
      <p:pic>
        <p:nvPicPr>
          <p:cNvPr id="7" name="Image 0" descr="/home/user/Colizeum__CRM/docs/screens/document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Подразделы фиксированные, пустые тоже показываются — сразу видно, чего не хватает.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— когда один документ правится по кругу: версия 1, версия 2, видно кто и когда загрузил.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«Файлы в этой карточке» — когда к одному договору два приложения или ресайзы макета.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перетаскивается мышью прямо в ячейку.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Хранилище одно на весь сервис: файл, загруженный в карточке сделки, виден и здесь. Дважды грузить не нужно.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Оплаты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платежей, которую вёл кто-то один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 месяцам и сверка с договором</a:t>
            </a:r>
            <a:endParaRPr lang="en-US" sz="1050" dirty="0"/>
          </a:p>
        </p:txBody>
      </p:sp>
      <p:pic>
        <p:nvPicPr>
          <p:cNvPr id="7" name="Image 0" descr="/home/user/Colizeum__CRM/docs/screens/finance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Календарь: строка — клиент, колонка — месяц. Платёж можно перетащить на другой месяц.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Выставлено / Оплачено / Остаток — по счетам и платёжкам.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Предупреждение «разложено больше договора» ловит задвоенный платёж.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Плановые платежи — это разбивка бюджета по срокам, а не деньги сверх него.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одно на весь сервис: вводим ЧИСТУЮ сумму, показываем с НДС крупно и чистую подписью. НДС считается по дате документа: 2025 — 20 %, 2026 — 22 %.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Исключение — счета и платёжки: их сумму переписывают с настоящего документа, где она уже с НДС.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размещений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Google-таблица, в которой легко затереть чужую строку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вид, но с правами и привязкой к сделке</a:t>
            </a:r>
            <a:endParaRPr lang="en-US" sz="1050" dirty="0"/>
          </a:p>
        </p:txBody>
      </p:sp>
      <p:pic>
        <p:nvPicPr>
          <p:cNvPr id="7" name="Image 0" descr="/home/user/Colizeum__CRM/docs/screens/placement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— позиция, колонка — неделя. Цвет клетки = статус: Подписан, На подписании, Ожидание.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Сетка сделана по рабочей таблице, к которой отдел привык.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Бронь заводится и отсюда, и прямо из карточки сделки.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стадии «Оплата» сервис предупредит: бронировать можно, выходить в клубах — нет.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Маркировка ОРД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ЕРИД искали в переписке с площадкой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 каждому креативу с файлами и датами</a:t>
            </a:r>
            <a:endParaRPr lang="en-US" sz="1050" dirty="0"/>
          </a:p>
        </p:txBody>
      </p:sp>
      <p:pic>
        <p:nvPicPr>
          <p:cNvPr id="7" name="Image 0" descr="/home/user/Colizeum__CRM/docs/screens/ord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записи: роль (агентство или клиент), даты, файл креатива, файл акта.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Флажок «срочно» — для того, что горит.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 заводятся в карточке сделки, здесь — общий список.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Маркировка нужна интернет-форматам: баннер в приложении, посты в Telegram и ВКонтакте. Экраны в клубе под неё не подпадают.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Промокоды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коды и условия жили в переписке с клиентом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по клиенту: сроки, условия, взаиморасчёт</a:t>
            </a:r>
            <a:endParaRPr lang="en-US" sz="1050" dirty="0"/>
          </a:p>
        </p:txBody>
      </p:sp>
      <p:pic>
        <p:nvPicPr>
          <p:cNvPr id="7" name="Image 0" descr="/home/user/Colizeum__CRM/docs/screens/promo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коды выдали и на какой срок.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Условия, механика, порядок взаиморасчёта.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Партии промокодов заводятся в карточке сделки.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Входящие с сайта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падали в таблицу, и кто-то должен был их заметить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поток со статусом и ответственным</a:t>
            </a:r>
            <a:endParaRPr lang="en-US" sz="1050" dirty="0"/>
          </a:p>
        </p:txBody>
      </p:sp>
      <p:pic>
        <p:nvPicPr>
          <p:cNvPr id="7" name="Image 0" descr="/home/user/Colizeum__CRM/docs/screens/leads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Обращения с формы на colizeum-agency.ru подтягиваются сами, кнопка «Обновить» тянет свежие прямо сейчас.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Статус: Новая / В работе / Квалифицирована / Отказ.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Назначили себя ответственным — сервис сам заведёт задачу «Связаться с …».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Статус, ответственный и заметка не перетираются при обновлении из таблицы.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общий: заявки видит весь отдел, и видно, что заявку уже взяли, — звонить второй раз не придётся.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Дневник встреч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расшифровка встречи оставалась в файле у того, кто записал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с показателями и строкой в отчётную таблицу</a:t>
            </a:r>
            <a:endParaRPr lang="en-US" sz="1050" dirty="0"/>
          </a:p>
        </p:txBody>
      </p:sp>
      <p:pic>
        <p:nvPicPr>
          <p:cNvPr id="7" name="Image 0" descr="/home/user/Colizeum__CRM/docs/screens/journal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записи, с кем встреча, клиент, расшифровка, файл записи.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«Разобрать транскрипт» — ИИ заполняет дату, время, продолжительность, участников и итоги.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сохранении строка уходит в Google-таблицу отчётности.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Длинная расшифровка свёрнута до трёх строк — лента остаётся читаемой.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выгрузка в таблицу не настроена, кнопка просто копирует готовую строку в буфер обмена.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цены и требования спрашивали у коллег в чате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статьи по категориям и файлы-шаблоны</a:t>
            </a:r>
            <a:endParaRPr lang="en-US" sz="1050" dirty="0"/>
          </a:p>
        </p:txBody>
      </p:sp>
      <p:pic>
        <p:nvPicPr>
          <p:cNvPr id="7" name="Image 0" descr="/home/user/Colizeum__CRM/docs/screens/knowledge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документооборота, цены, технические требования, кейсы.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«Файлы и шаблоны» — типовой договор, прайс, презентация.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статьям; отсюда же берёт данные ИИ-напарник.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 — это данные агентства: цифры, реквизиты, размеры. Порядок работы напарник берёт из своего внутреннего руководства, а не отсюда.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Мессенджер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рабочие договорённости терялись в личных мессенджерах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и личка рядом с клиентами и сделками</a:t>
            </a:r>
            <a:endParaRPr lang="en-US" sz="1050" dirty="0"/>
          </a:p>
        </p:txBody>
      </p:sp>
      <p:pic>
        <p:nvPicPr>
          <p:cNvPr id="7" name="Image 0" descr="/home/user/Colizeum__CRM/docs/screens/messenger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и личные переписки, сообщения приходят мгновенно.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Вложения, закрепление важного, привязка сообщения к клиенту или сделке.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— отправить. Маячок непрочитанного стоит напротив пункта в меню.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сообщения дублируются в Telegram, если он привязан.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Напарник ИИ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«посчитай, вспомни, собери» — руками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спросить словами и поручить мелкую работу</a:t>
            </a:r>
            <a:endParaRPr lang="en-US" sz="1050" dirty="0"/>
          </a:p>
        </p:txBody>
      </p:sp>
      <p:pic>
        <p:nvPicPr>
          <p:cNvPr id="7" name="Image 0" descr="/home/user/Colizeum__CRM/docs/screens/assistant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Спросить: «что горит по МТС», «какие сделки без предоплаты», «что в базе знаний про цены».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Поручить: завести задачу, записать статус дня, добавить запись в дневник, задать вопрос руководителю.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Кинуть файл в чат: напарник определит клиента и разложит его в сделку и «Документы».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 ответом написано, куда он заглядывал: «база знаний: цены → карточка клиента: МТС».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Жёлтое предупреждение «ответил без обращения к данным сервиса» значит, что ответ он сочинил сам. Такой ответ проверяйте.</a:t>
            </a:r>
            <a:endParaRPr lang="en-US" sz="1000" dirty="0"/>
          </a:p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Напарник работает только в вашей области видимости: чужих клиентов не покажет.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Передача дел и отпуска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в отпуске, пиши Кате» — и материалы искали заново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отсутствий и передача клиентов с саммари</a:t>
            </a:r>
            <a:endParaRPr lang="en-US" sz="1050" dirty="0"/>
          </a:p>
        </p:txBody>
      </p:sp>
      <p:pic>
        <p:nvPicPr>
          <p:cNvPr id="7" name="Image 0" descr="/home/user/Colizeum__CRM/docs/screens/handover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«Сегодня» — кого нет прямо сейчас, до какого числа и у кого его дела.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 по дням: клик по клетке заводит период. На полосе — тип отсутствия, замещающий словами «дела у Кати».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Передача: выбираете своих клиентов, кому и до какой даты.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«Собрать саммари» — где работа, что подписано и оплачено, что горит. Факты берутся из базы, ИИ только пересказывает.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«Вернуть дела» ставит всё обратно.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Своё отсутствие ставит каждый сам, чужое — руководитель. Календарь виден всей команде: это и есть ответ на вопрос «кто на месте».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 структура отдела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кому подчиняется — знали на словах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строится из должностей и закреплений</a:t>
            </a:r>
            <a:endParaRPr lang="en-US" sz="1050" dirty="0"/>
          </a:p>
        </p:txBody>
      </p:sp>
      <p:pic>
        <p:nvPicPr>
          <p:cNvPr id="7" name="Image 0" descr="/home/user/Colizeum__CRM/docs/screens/team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«Структура отдела» собирается сам: руководитель отдела → руководители проектов → их менеджеры.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Должность и права — разные поля: «Руководитель проектов» — это должность, а что человек видит, задаёт роль.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Закрепление менеджера за руководителем проектов открывает им общих клиентов — поэтому его задаёт администратор.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Личная таблица учёта: каждый ставит ссылку на свою, админ может поправить.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Смена закрепления действует сразу, без перевхода. Клиенты соседней пары не видны ни в списке, ни по прямой ссылке.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руководитель отдела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собирали вручную к каждому совещанию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людям, воронка и очередь решений</a:t>
            </a:r>
            <a:endParaRPr lang="en-US" sz="1050" dirty="0"/>
          </a:p>
        </p:txBody>
      </p:sp>
      <p:pic>
        <p:nvPicPr>
          <p:cNvPr id="7" name="Image 0" descr="/home/user/Colizeum__CRM/docs/screens/leadership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каждому сотруднику: сделки, суммы, блокеры, активность.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Воронка по пяти стадиям; клик раскрывает контрагентов с менеджером и суммой.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Виджеты «блокеры / просроченные / зависшие» раскрываются в списки.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«Поручить» — поставить задачу сотруднику прямо отсюда.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«Решения, которые ждут вас» — вопросы сотрудников с кнопкой «Решено».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" y="5897880"/>
            <a:ext cx="10515600" cy="777240"/>
          </a:xfrm>
          <a:prstGeom prst="roundRect">
            <a:avLst>
              <a:gd name="adj" fmla="val 7059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5989320"/>
            <a:ext cx="10113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24128" y="6199632"/>
            <a:ext cx="10113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считается по тем же данным, что видите вы. Отдельного «отчёта для руководителя» никто не заполняет — и расходиться ему не с чем.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отдела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жил в отдельной таблице у руководителя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страница — три вопроса</a:t>
            </a:r>
            <a:endParaRPr lang="en-US" sz="1050" dirty="0"/>
          </a:p>
        </p:txBody>
      </p:sp>
      <p:pic>
        <p:nvPicPr>
          <p:cNvPr id="7" name="Image 0" descr="/home/user/Colizeum__CRM/docs/screens/leadership-budget@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72768"/>
            <a:ext cx="6729984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0" y="1572768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месяца: сколько свободно, сколько по плану, полоса освоения.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«Ждут вашего решения» — кнопка «Согласовать» прямо в строке.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«Куда уходят деньги» и «Что приходит».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расхода: четыре обязательных поля, бухгалтерия — в «Подробностях». Выгрузка в CSV.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11480"/>
            <a:ext cx="420624" cy="420624"/>
          </a:xfrm>
          <a:prstGeom prst="ellipse">
            <a:avLst/>
          </a:prstGeom>
          <a:solidFill>
            <a:srgbClr val="FCDF3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11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7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389888" y="3474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телефона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822960" y="987552"/>
            <a:ext cx="10515600" cy="402336"/>
          </a:xfrm>
          <a:prstGeom prst="roundRect">
            <a:avLst>
              <a:gd name="adj" fmla="val 13636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987552"/>
            <a:ext cx="10113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Раньше: </a:t>
            </a:r>
            <a:pPr indent="0" marL="0">
              <a:buNone/>
            </a:pPr>
            <a:r>
              <a:rPr lang="en-US" sz="1050" dirty="0">
                <a:solidFill>
                  <a:srgbClr val="8B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телефона было не открыть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050" b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Теперь: </a:t>
            </a:r>
            <a:pPr indent="0" marL="0">
              <a:buNone/>
            </a:pPr>
            <a:r>
              <a:rPr lang="en-US" sz="105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разделы, нижняя панель под большой палец</a:t>
            </a:r>
            <a:endParaRPr lang="en-US" sz="1050" dirty="0"/>
          </a:p>
        </p:txBody>
      </p:sp>
      <p:pic>
        <p:nvPicPr>
          <p:cNvPr id="7" name="Image 0" descr="/home/user/Colizeum__CRM/docs/screens/mobile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554480"/>
            <a:ext cx="1920240" cy="4160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931920" y="1600200"/>
            <a:ext cx="7406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Внизу панель: Сегодня / Задачи / главный раздел направления / Чат / Ещё.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«Ещё» открывает полное меню шторкой.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шапке написано, в каком вы разделе.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Страницы помещаются в экран — боком листать не нужно.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931920" y="4754880"/>
            <a:ext cx="7406640" cy="960120"/>
          </a:xfrm>
          <a:prstGeom prst="roundRect">
            <a:avLst>
              <a:gd name="adj" fmla="val 5714"/>
            </a:avLst>
          </a:prstGeom>
          <a:solidFill>
            <a:srgbClr val="2A211A"/>
          </a:solidFill>
          <a:ln w="9525">
            <a:solidFill>
              <a:srgbClr val="4A3A2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33088" y="4846320"/>
            <a:ext cx="7004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ВАЖНО ЗНАТЬ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133088" y="5056632"/>
            <a:ext cx="7004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телефона удобно отметить статус задачи, глянуть сроки и ответить в чате. Заводить сделку и грузить документы всё-таки проще с компьютера.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3 · ПРАВИЛА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Шесть правил, которые действуют везде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9293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вводим чистыми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2416" y="225856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Сумму вносите без НДС — как в медиаплане. Сервис сам покажет сумму с НДС крупно, а чистую подписью.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07408" y="178308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6864" y="19293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НДС по дате документа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26864" y="225856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год — 20 %, 2026 — 22 %. Ставка берётся по дате договора.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991856" y="178308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11312" y="19293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Размещение после предоплаты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11312" y="225856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Незыблемое правило: бронировать можно, выходить в клубах — только после предоплаты.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388620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03250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Правки после подписания — через ДС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436168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тело договора править нельзя, изменения оформляются дополнительным соглашением.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07408" y="388620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403250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 грузится один раз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26864" y="436168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Хранилище одно: файл из сделки виден в «Документах» клиента и наоборот.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91856" y="388620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403250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Видно только своих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11312" y="436168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видите своих клиентов и клиентов своей пары. Чужие не скрыты — они просто не запрашиваются.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3 · БЕЗОПАСНОСТЬ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от вас требуется по безопасности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9293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Пароль от 12 символов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42416" y="225856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он личный. В журнале действий останется ваше имя — значит, и ответственность ваша.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07408" y="178308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6864" y="19293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по коду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26864" y="225856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фактор из приложения-аутентификатора. Обязателен тем, у кого доступ к управлению и журналу.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991856" y="178308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11312" y="192938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действий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11312" y="225856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Кто, когда, что открыл, изменил, удалил и выгрузил. Персональные данные в журнал не пишутся — только названия изменённых полей.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388620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03250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клиентов — не для пересылки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436168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Выгрузка в Excel сделана под передачу дел, а не под отправку файлов наружу. Каждая выгрузка отмечается в журнале.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07408" y="388620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403250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что-то утекло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26864" y="436168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меню слева есть красная строка «Данные могли утечь — что делать». Там порядок действий на первые минуты и кому сообщить.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91856" y="3886200"/>
            <a:ext cx="3346704" cy="1874520"/>
          </a:xfrm>
          <a:prstGeom prst="roundRect">
            <a:avLst>
              <a:gd name="adj" fmla="val 2927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403250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— служебный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11312" y="4361688"/>
            <a:ext cx="29077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Личные документы и посторонние файлы сюда не загружаются.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4 · С ЧЕГО НАЧАТЬ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40" kern="0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сделать в первую неделю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6400800" cy="3840480"/>
          </a:xfrm>
          <a:prstGeom prst="roundRect">
            <a:avLst>
              <a:gd name="adj" fmla="val 1905"/>
            </a:avLst>
          </a:prstGeom>
          <a:solidFill>
            <a:srgbClr val="232320"/>
          </a:solidFill>
          <a:ln w="15875">
            <a:solidFill>
              <a:srgbClr val="FCDF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5740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Войдите, примите документы и смените пароль на свой.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Загляните в «Команду» — проверьте, верно ли указана должность и закрепление.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Заведите своих настоящих клиентов и сделки: на демонстрационных данных ничего не проверишь.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«Задачи» → «По клиентам» и пройдите по своим клиентам: обстановка, пункты, сроки.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Проставьте статус дня хотя бы три дня подряд — на четвёртый увидите, зачем он.</a:t>
            </a:r>
            <a:endParaRPr lang="en-US" sz="12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Запишите всё, что мешает: где непонятно, куда нажимать, где лишние клики, чего не хватает.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840480" cy="3840480"/>
          </a:xfrm>
          <a:prstGeom prst="roundRect">
            <a:avLst>
              <a:gd name="adj" fmla="val 1905"/>
            </a:avLst>
          </a:prstGeom>
          <a:solidFill>
            <a:srgbClr val="232320"/>
          </a:solidFill>
          <a:ln w="9525">
            <a:solidFill>
              <a:srgbClr val="3534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5824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писать замечания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35824" y="24688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мессенджер сервиса, канал «Общий»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Или кнопкой «Спросить руководителя» на «Сегодня»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«Кнопка не там» — нормальное замечание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BE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Хуже промолчать и остаться с неудобной кнопкой навсегда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CD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в бета-версии. Пользуйтесь им как настоящим рабочим инструментом — иначе не будет видно, что в нём не так.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Обучение по сервису Colizeum Agency</dc:title>
  <dc:subject>PptxGenJS Presentation</dc:subject>
  <dc:creator>Colizeum Agency</dc:creator>
  <cp:lastModifiedBy>Colizeum Agency</cp:lastModifiedBy>
  <cp:revision>1</cp:revision>
  <dcterms:created xsi:type="dcterms:W3CDTF">2026-10-29T15:51:49Z</dcterms:created>
  <dcterms:modified xsi:type="dcterms:W3CDTF">2026-10-29T15:51:49Z</dcterms:modified>
</cp:coreProperties>
</file>